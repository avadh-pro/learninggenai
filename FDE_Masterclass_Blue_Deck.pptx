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notesMasterIdLst>
    <p:notesMasterId r:id="rId3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calmly. Do not start with your bio. Start with the role and the promise: this session is about moving AI from demo to production.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expectations: we will not master every LLM topic in two hours. We will learn enough visually to understand diagrams, failure points, and interview conversations.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section with the 729% number, then explain the bank demo that does not go live. Land this: almost nobody says the model was not smart enough. The failure is around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chat: data, accuracy, integration, trust, cost. Read three answers. Then land: the FDE fixes the messy gap between demo and daily production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Tell the personal story briefly. Civil engineering is deliberate because many learners are transitioning. Promise to explain technical ideas twice: human language first, then one level deeper.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title word by word. Ask learners to repeat the one-line definition mentally.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six job sentences as if speaking in a real meeting. Emphasize that the value is judgment under ambiguity.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Narrate this as an incident story. The learning: most AI failures are retrieval, permission, integration, or product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Caveat: titles are inconsistent. The signal is whether the role owns discovery, delivery, rollout, and adoption.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 with one question per step. Use the public-sector knowledge assistant example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Move learners from “I built an AI feature” to “I changed a workflow and can prove it.”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everyone to type one word. Then explain the ranked list of likely next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attention as every word deciding which earlier words explain it. Then land the limitation: an LLM is not a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this as a quiz. Answer is C. The word grounding leads directly into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closed-book versus open-book line. This is the simplest way to explain RAG to any stakeholder.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two halves. Emphasize that you should never hide retrieval in a demo; show the chunks before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where the pipeline can fail: parsing, chunking, retrieval, filtering, reranking, prompting, generation, citation,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the break, read some current roles aloud. Transition is possible, but it comes from building one real system and closing the engineering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solved case study. Make the point: the best first system design answer is usually a good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left-to-right. Stress that permissions are not a post-processing step. They happen before or during retrieval.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Qdrant line. Senior system design is not a diagram of tools; it is decisions justified by constraints.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for the detailed case explanation. Keep the rule: debug the pipeline stage by stage before changing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Is this RAG, extraction, or an agent? The honest answer is all three appear, but the core is structured extraction plus tools plus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seven-stage pipeline. Emphasize original file storage, strict schema, trusted tool lookup, deterministic rules, and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this as a question first. Then answer: no, absolutely not. Code calculates variance; the LLM can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agent loop. Add guardrails: confidence thresholds, cross-check totals, never repeated payment, safe pending state.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internal tool. Narrate as you click. The key message is active practice, not passive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Emphasize: do not learn fifty frameworks. Learn fundamentals and build one project deeply enough to defend every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three project order: beginner RAG, intermediate policy assistant, advanced invoice or support operations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answer structure learners can reuse in project deep dives, system design, and customer scenario 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balanced. Free learning is possible. Structure should solve sequence, accountability, feedback, and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slowly on this sentence. Then transition to Q&amp;A buckets: role/career, technical architecture, project ideas.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60–90 second answers unless it helps the whole room. Personal profile questions get a next action, not a full career consultation.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C9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digital_illustration_concept_a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502920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FORWARD DEPLOYED ENGINEERING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594360" y="109728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AI demo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production outcome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21792" y="2834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FF"/>
                </a:solidFill>
              </a:rPr>
              <a:t>FDE Masterclass | Rohit Jindal | Scaler | 25 July 2026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2648" y="5897880"/>
            <a:ext cx="484632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LLMs · RAG · Agents · Case Studies · 90-day Roadmap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agenda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A 2-hour path from role clarity to interview-ready systems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627632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071D3E"/>
          </a:solidFill>
          <a:ln w="10160">
            <a:solidFill>
              <a:srgbClr val="071D3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0:00–0:38</a:t>
            </a:r>
            <a:endParaRPr lang="en-US" sz="1120" dirty="0"/>
          </a:p>
        </p:txBody>
      </p:sp>
      <p:sp>
        <p:nvSpPr>
          <p:cNvPr id="6" name="Text 4"/>
          <p:cNvSpPr/>
          <p:nvPr/>
        </p:nvSpPr>
        <p:spPr>
          <a:xfrm>
            <a:off x="2240280" y="1609344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4364B"/>
                </a:solidFill>
              </a:rPr>
              <a:t>Why the FDE role exists, what it owns, and how the operating loop works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13232" y="2651760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071D3E"/>
          </a:solidFill>
          <a:ln w="10160">
            <a:solidFill>
              <a:srgbClr val="071D3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0:38–1:04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2240280" y="2633472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4364B"/>
                </a:solidFill>
              </a:rPr>
              <a:t>LLMs visually, then RAG visually, with demo language you can reuse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13232" y="3675888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071D3E"/>
          </a:solidFill>
          <a:ln w="10160">
            <a:solidFill>
              <a:srgbClr val="071D3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1:08–1:31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2240280" y="365760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4364B"/>
                </a:solidFill>
              </a:rPr>
              <a:t>Two case studies: enterprise RAG and invoice agent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13232" y="4700016"/>
            <a:ext cx="1298448" cy="365760"/>
          </a:xfrm>
          <a:prstGeom prst="roundRect">
            <a:avLst>
              <a:gd name="adj" fmla="val 20000"/>
            </a:avLst>
          </a:prstGeom>
          <a:solidFill>
            <a:srgbClr val="071D3E"/>
          </a:solidFill>
          <a:ln w="10160">
            <a:solidFill>
              <a:srgbClr val="071D3E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1:31–2:00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2240280" y="468172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dirty="0">
                <a:solidFill>
                  <a:srgbClr val="24364B"/>
                </a:solidFill>
              </a:rPr>
              <a:t>Practice tool, 90-day roadmap, structured learning, close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823960" y="5394960"/>
            <a:ext cx="2423160" cy="804672"/>
          </a:xfrm>
          <a:prstGeom prst="roundRect">
            <a:avLst>
              <a:gd name="adj" fmla="val 13636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</a:rPr>
              <a:t>Two promises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</a:rPr>
              <a:t>Familiarity, not fake mastery.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4364B"/>
                </a:solidFill>
              </a:rPr>
              <a:t>Resource pack at the end.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194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A8E8"/>
                </a:solidFill>
              </a:rPr>
              <a:t>WHY THIS ROLE EXISTS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621792" y="7315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Most AI projects fail after the demo, not before it.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0" b="1" dirty="0">
                <a:solidFill>
                  <a:srgbClr val="00A8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729%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658368" y="261518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E8FF"/>
                </a:solidFill>
              </a:rPr>
              <a:t>growth signal: companies need people who can ship AI into real workflows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0" y="17373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3569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Compliance</a:t>
            </a:r>
            <a:endParaRPr lang="en-US" sz="1120" dirty="0"/>
          </a:p>
        </p:txBody>
      </p:sp>
      <p:sp>
        <p:nvSpPr>
          <p:cNvPr id="7" name="Text 5"/>
          <p:cNvSpPr/>
          <p:nvPr/>
        </p:nvSpPr>
        <p:spPr>
          <a:xfrm>
            <a:off x="7589520" y="1737360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3569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Scattered docs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577840" y="2542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3569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Traceability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589520" y="2542032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3569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Latency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577840" y="3346704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3569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Integration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589520" y="3346704"/>
            <a:ext cx="1600200" cy="384048"/>
          </a:xfrm>
          <a:prstGeom prst="roundRect">
            <a:avLst>
              <a:gd name="adj" fmla="val 19048"/>
            </a:avLst>
          </a:prstGeom>
          <a:solidFill>
            <a:srgbClr val="0E3569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</a:rPr>
              <a:t>Adoption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5577840" y="4572000"/>
            <a:ext cx="4846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DF0FF"/>
                </a:solidFill>
              </a:rPr>
              <a:t>The gap is around the model: data, permissions, workflow, rollout, trust.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production gap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Different people stop at different points. The FDE owns the outcome.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7452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Consultant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Recommendation deck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90088" y="2542032"/>
            <a:ext cx="402336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3593592" y="187452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Software engineer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Waits for clean spec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06440" y="2542032"/>
            <a:ext cx="402336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409944" y="187452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Data scientist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Better notebook model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22792" y="2542032"/>
            <a:ext cx="402336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226296" y="1874520"/>
            <a:ext cx="2148840" cy="1325880"/>
          </a:xfrm>
          <a:prstGeom prst="roundRect">
            <a:avLst>
              <a:gd name="adj" fmla="val 8276"/>
            </a:avLst>
          </a:prstGeom>
          <a:solidFill>
            <a:srgbClr val="DCEEFF"/>
          </a:solidFill>
          <a:ln w="12700">
            <a:solidFill>
              <a:srgbClr val="2F80ED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FDE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Integrated system people use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1605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DAB"/>
                </a:solidFill>
              </a:rPr>
              <a:t>Chat prompt for class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48056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D3E"/>
                </a:solidFill>
              </a:rPr>
              <a:t>One word: what usually kills an AI project after the demo?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longer corridor, not a closed door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Why my examples come from real deployment pressure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D3E"/>
                </a:solidFill>
              </a:rPr>
              <a:t>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Civil engineering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Concrete, structures, soil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93008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D3E"/>
                </a:solidFill>
              </a:rPr>
              <a:t>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493008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Applied AI &amp; DS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493008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Target, Mastercard, State Street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254496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D3E"/>
                </a:solidFill>
              </a:rPr>
              <a:t>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54496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Teaching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54496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Simplifying messy systems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015984" y="20574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71D3E"/>
                </a:solidFill>
              </a:rPr>
              <a:t>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15984" y="26060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FDE lens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015984" y="30632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Model + users + risk + production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05840" y="507492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A8E8"/>
                </a:solidFill>
              </a:rPr>
              <a:t>A model inside a notebook is not a business solution.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“Forward Deployed Engineer” mean?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Each word matters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64B"/>
                </a:solidFill>
              </a:rPr>
              <a:t>FORWARD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64B"/>
                </a:solidFill>
              </a:rPr>
              <a:t>Close to the customer, user, and messy workflow.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26280" y="182880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64B"/>
                </a:solidFill>
              </a:rPr>
              <a:t>DEPLOYED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64B"/>
                </a:solidFill>
              </a:rPr>
              <a:t>Inside real environments with real data, permissions, latency, and incidents.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75320" y="1828800"/>
            <a:ext cx="29718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4364B"/>
                </a:solidFill>
              </a:rPr>
              <a:t>ENGINEER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24364B"/>
                </a:solidFill>
              </a:rPr>
              <a:t>Builds, tests, deploys, documents, monitors, and owns the system.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4348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DAB"/>
                </a:solidFill>
              </a:rPr>
              <a:t>One-line definition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80060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71D3E"/>
                </a:solidFill>
              </a:rPr>
              <a:t>A customer-facing software engineer who owns the journey from an unclear business problem to a working production system.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an FDE actually does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The job is a loop of decisions, not a list of tools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FE3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Discover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Show me how you do this today.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26280" y="169164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EAF3FF"/>
          </a:solidFill>
          <a:ln w="12700">
            <a:solidFill>
              <a:srgbClr val="CFE3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Define success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Which number should move?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0" y="169164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FE3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Design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What architecture fits your constraints?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EAF3FF"/>
          </a:solidFill>
          <a:ln w="12700">
            <a:solidFill>
              <a:srgbClr val="CFE3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Build + integrate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Connect docs, DBs, APIs, auth, UI.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310896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CFE3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Evaluate + deploy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Tests, guardrails, monitoring, rollout.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0" y="3108960"/>
            <a:ext cx="2926080" cy="960120"/>
          </a:xfrm>
          <a:prstGeom prst="roundRect">
            <a:avLst>
              <a:gd name="adj" fmla="val 11429"/>
            </a:avLst>
          </a:prstGeom>
          <a:solidFill>
            <a:srgbClr val="EAF3FF"/>
          </a:solidFill>
          <a:ln w="12700">
            <a:solidFill>
              <a:srgbClr val="CFE3F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Generalise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Turn repeat patterns into product.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5349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071D3E"/>
                </a:solidFill>
              </a:rPr>
              <a:t>The rare skill: making a good decision when the requirement is incomplete and the clock is running.</a:t>
            </a:r>
            <a:endParaRPr lang="en-US" sz="178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bad Monday in the life of an FDE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The model is often not the problem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3063240"/>
            <a:ext cx="9555480" cy="0"/>
          </a:xfrm>
          <a:prstGeom prst="line">
            <a:avLst/>
          </a:prstGeom>
          <a:noFill/>
          <a:ln w="1905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749808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9:00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60120" y="2907792"/>
            <a:ext cx="219456" cy="219456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</a:rPr>
              <a:t>Incident call</a:t>
            </a:r>
            <a:endParaRPr lang="en-US" sz="1160" dirty="0"/>
          </a:p>
        </p:txBody>
      </p:sp>
      <p:sp>
        <p:nvSpPr>
          <p:cNvPr id="9" name="Text 7"/>
          <p:cNvSpPr/>
          <p:nvPr/>
        </p:nvSpPr>
        <p:spPr>
          <a:xfrm>
            <a:off x="2596896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10:00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07208" y="2907792"/>
            <a:ext cx="219456" cy="219456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05456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</a:rPr>
              <a:t>Trace retrieval logs</a:t>
            </a:r>
            <a:endParaRPr lang="en-US" sz="1160" dirty="0"/>
          </a:p>
        </p:txBody>
      </p:sp>
      <p:sp>
        <p:nvSpPr>
          <p:cNvPr id="12" name="Text 10"/>
          <p:cNvSpPr/>
          <p:nvPr/>
        </p:nvSpPr>
        <p:spPr>
          <a:xfrm>
            <a:off x="4443984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11:00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54296" y="2907792"/>
            <a:ext cx="219456" cy="219456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</a:rPr>
              <a:t>Fix permission filter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6291072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1:30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01384" y="2907792"/>
            <a:ext cx="219456" cy="219456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9632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</a:rPr>
              <a:t>Staging tests</a:t>
            </a:r>
            <a:endParaRPr lang="en-US" sz="1160" dirty="0"/>
          </a:p>
        </p:txBody>
      </p:sp>
      <p:sp>
        <p:nvSpPr>
          <p:cNvPr id="18" name="Text 16"/>
          <p:cNvSpPr/>
          <p:nvPr/>
        </p:nvSpPr>
        <p:spPr>
          <a:xfrm>
            <a:off x="8138160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3:00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348472" y="2907792"/>
            <a:ext cx="219456" cy="219456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46720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</a:rPr>
              <a:t>Gradual rollout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9985248" y="2514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8E8"/>
                </a:solidFill>
              </a:rPr>
              <a:t>4:30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195560" y="2907792"/>
            <a:ext cx="219456" cy="219456"/>
          </a:xfrm>
          <a:prstGeom prst="ellipse">
            <a:avLst/>
          </a:prstGeom>
          <a:solidFill>
            <a:srgbClr val="00A8E8"/>
          </a:solidFill>
          <a:ln w="12700">
            <a:solidFill>
              <a:srgbClr val="00A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93808" y="3456432"/>
            <a:ext cx="12801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dirty="0">
                <a:solidFill>
                  <a:srgbClr val="FFFFFF"/>
                </a:solidFill>
              </a:rPr>
              <a:t>Incident note</a:t>
            </a:r>
            <a:endParaRPr lang="en-US" sz="1160" dirty="0"/>
          </a:p>
        </p:txBody>
      </p:sp>
      <p:sp>
        <p:nvSpPr>
          <p:cNvPr id="24" name="Text 22"/>
          <p:cNvSpPr/>
          <p:nvPr/>
        </p:nvSpPr>
        <p:spPr>
          <a:xfrm>
            <a:off x="1143000" y="4846320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DDF0FF"/>
                </a:solidFill>
              </a:rPr>
              <a:t>A metadata filter was skipped. The LLM answered from documents it should never have seen.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FDE differs from adjacent roles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Read the JD, not just the title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011680" cy="347472"/>
          </a:xfrm>
          <a:prstGeom prst="rect">
            <a:avLst/>
          </a:prstGeom>
          <a:solidFill>
            <a:srgbClr val="145DAB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3840480" cy="347472"/>
          </a:xfrm>
          <a:prstGeom prst="rect">
            <a:avLst/>
          </a:prstGeom>
          <a:solidFill>
            <a:srgbClr val="145DAB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Centre of gravity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0" y="1645920"/>
            <a:ext cx="3840480" cy="347472"/>
          </a:xfrm>
          <a:prstGeom prst="rect">
            <a:avLst/>
          </a:prstGeom>
          <a:solidFill>
            <a:srgbClr val="145DAB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48256"/>
            <a:ext cx="2011680" cy="411480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Software Engineer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2743200" y="2048256"/>
            <a:ext cx="3840480" cy="411480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Reusable product/platform</a:t>
            </a:r>
            <a:endParaRPr lang="en-US" sz="1060" dirty="0"/>
          </a:p>
        </p:txBody>
      </p:sp>
      <p:sp>
        <p:nvSpPr>
          <p:cNvPr id="10" name="Text 8"/>
          <p:cNvSpPr/>
          <p:nvPr/>
        </p:nvSpPr>
        <p:spPr>
          <a:xfrm>
            <a:off x="6583680" y="2048256"/>
            <a:ext cx="3840480" cy="411480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Software for many customers</a:t>
            </a:r>
            <a:endParaRPr lang="en-US" sz="1060" dirty="0"/>
          </a:p>
        </p:txBody>
      </p:sp>
      <p:sp>
        <p:nvSpPr>
          <p:cNvPr id="11" name="Text 9"/>
          <p:cNvSpPr/>
          <p:nvPr/>
        </p:nvSpPr>
        <p:spPr>
          <a:xfrm>
            <a:off x="731520" y="2578608"/>
            <a:ext cx="20116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ML / AI Engineer</a:t>
            </a:r>
            <a:endParaRPr lang="en-US" sz="1060" dirty="0"/>
          </a:p>
        </p:txBody>
      </p:sp>
      <p:sp>
        <p:nvSpPr>
          <p:cNvPr id="12" name="Text 10"/>
          <p:cNvSpPr/>
          <p:nvPr/>
        </p:nvSpPr>
        <p:spPr>
          <a:xfrm>
            <a:off x="2743200" y="2578608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Models, pipelines, evaluation</a:t>
            </a:r>
            <a:endParaRPr lang="en-US" sz="1060" dirty="0"/>
          </a:p>
        </p:txBody>
      </p:sp>
      <p:sp>
        <p:nvSpPr>
          <p:cNvPr id="13" name="Text 11"/>
          <p:cNvSpPr/>
          <p:nvPr/>
        </p:nvSpPr>
        <p:spPr>
          <a:xfrm>
            <a:off x="6583680" y="2578608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Reliable AI capability</a:t>
            </a:r>
            <a:endParaRPr lang="en-US" sz="1060" dirty="0"/>
          </a:p>
        </p:txBody>
      </p:sp>
      <p:sp>
        <p:nvSpPr>
          <p:cNvPr id="14" name="Text 12"/>
          <p:cNvSpPr/>
          <p:nvPr/>
        </p:nvSpPr>
        <p:spPr>
          <a:xfrm>
            <a:off x="731520" y="3108960"/>
            <a:ext cx="2011680" cy="411480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Solutions Engineer</a:t>
            </a:r>
            <a:endParaRPr lang="en-US" sz="1060" dirty="0"/>
          </a:p>
        </p:txBody>
      </p:sp>
      <p:sp>
        <p:nvSpPr>
          <p:cNvPr id="15" name="Text 13"/>
          <p:cNvSpPr/>
          <p:nvPr/>
        </p:nvSpPr>
        <p:spPr>
          <a:xfrm>
            <a:off x="2743200" y="3108960"/>
            <a:ext cx="3840480" cy="411480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Pre-sales demos/design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6583680" y="3108960"/>
            <a:ext cx="3840480" cy="411480"/>
          </a:xfrm>
          <a:prstGeom prst="rect">
            <a:avLst/>
          </a:prstGeom>
          <a:solidFill>
            <a:srgbClr val="F0F6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Proposal or demo</a:t>
            </a:r>
            <a:endParaRPr lang="en-US" sz="1060" dirty="0"/>
          </a:p>
        </p:txBody>
      </p:sp>
      <p:sp>
        <p:nvSpPr>
          <p:cNvPr id="17" name="Text 15"/>
          <p:cNvSpPr/>
          <p:nvPr/>
        </p:nvSpPr>
        <p:spPr>
          <a:xfrm>
            <a:off x="731520" y="3639312"/>
            <a:ext cx="20116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Consultant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2743200" y="3639312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Diagnosis and process</a:t>
            </a:r>
            <a:endParaRPr lang="en-US" sz="1060" dirty="0"/>
          </a:p>
        </p:txBody>
      </p:sp>
      <p:sp>
        <p:nvSpPr>
          <p:cNvPr id="19" name="Text 17"/>
          <p:cNvSpPr/>
          <p:nvPr/>
        </p:nvSpPr>
        <p:spPr>
          <a:xfrm>
            <a:off x="6583680" y="3639312"/>
            <a:ext cx="3840480" cy="4114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24364B"/>
                </a:solidFill>
              </a:rPr>
              <a:t>Roadmap</a:t>
            </a:r>
            <a:endParaRPr lang="en-US" sz="1060" dirty="0"/>
          </a:p>
        </p:txBody>
      </p:sp>
      <p:sp>
        <p:nvSpPr>
          <p:cNvPr id="20" name="Text 18"/>
          <p:cNvSpPr/>
          <p:nvPr/>
        </p:nvSpPr>
        <p:spPr>
          <a:xfrm>
            <a:off x="731520" y="4169664"/>
            <a:ext cx="2011680" cy="411480"/>
          </a:xfrm>
          <a:prstGeom prst="rect">
            <a:avLst/>
          </a:prstGeom>
          <a:solidFill>
            <a:srgbClr val="DCEE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71D3E"/>
                </a:solidFill>
              </a:rPr>
              <a:t>FDE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2743200" y="4169664"/>
            <a:ext cx="3840480" cy="411480"/>
          </a:xfrm>
          <a:prstGeom prst="rect">
            <a:avLst/>
          </a:prstGeom>
          <a:solidFill>
            <a:srgbClr val="DCEE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71D3E"/>
                </a:solidFill>
              </a:rPr>
              <a:t>Customer outcome end-to-end</a:t>
            </a:r>
            <a:endParaRPr lang="en-US" sz="1060" dirty="0"/>
          </a:p>
        </p:txBody>
      </p:sp>
      <p:sp>
        <p:nvSpPr>
          <p:cNvPr id="22" name="Text 20"/>
          <p:cNvSpPr/>
          <p:nvPr/>
        </p:nvSpPr>
        <p:spPr>
          <a:xfrm>
            <a:off x="6583680" y="4169664"/>
            <a:ext cx="3840480" cy="411480"/>
          </a:xfrm>
          <a:prstGeom prst="rect">
            <a:avLst/>
          </a:prstGeom>
          <a:solidFill>
            <a:srgbClr val="DCEEFF"/>
          </a:solidFill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71D3E"/>
                </a:solidFill>
              </a:rPr>
              <a:t>Integrated system people use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914400" y="5257800"/>
            <a:ext cx="8961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71D3E"/>
                </a:solidFill>
              </a:rPr>
              <a:t>Signal to look for: discovery + delivery + rollout + adoption.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FDE operating loop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Launch is not the end; feedback starts there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3218688"/>
            <a:ext cx="411480" cy="0"/>
          </a:xfrm>
          <a:prstGeom prst="line">
            <a:avLst/>
          </a:prstGeom>
          <a:noFill/>
          <a:ln w="1397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377440" y="3218688"/>
            <a:ext cx="411480" cy="0"/>
          </a:xfrm>
          <a:prstGeom prst="line">
            <a:avLst/>
          </a:prstGeom>
          <a:noFill/>
          <a:ln w="1397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49040" y="3218688"/>
            <a:ext cx="411480" cy="0"/>
          </a:xfrm>
          <a:prstGeom prst="line">
            <a:avLst/>
          </a:prstGeom>
          <a:noFill/>
          <a:ln w="1397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20640" y="3218688"/>
            <a:ext cx="411480" cy="0"/>
          </a:xfrm>
          <a:prstGeom prst="line">
            <a:avLst/>
          </a:prstGeom>
          <a:noFill/>
          <a:ln w="1397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92240" y="3218688"/>
            <a:ext cx="411480" cy="0"/>
          </a:xfrm>
          <a:prstGeom prst="line">
            <a:avLst/>
          </a:prstGeom>
          <a:noFill/>
          <a:ln w="1397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863840" y="3218688"/>
            <a:ext cx="411480" cy="0"/>
          </a:xfrm>
          <a:prstGeom prst="line">
            <a:avLst/>
          </a:prstGeom>
          <a:noFill/>
          <a:ln w="1397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235440" y="3218688"/>
            <a:ext cx="411480" cy="0"/>
          </a:xfrm>
          <a:prstGeom prst="line">
            <a:avLst/>
          </a:prstGeom>
          <a:noFill/>
          <a:ln w="1397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400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Discover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0116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Define success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3832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Prototype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47548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Integrate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61264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Evaluate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74980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Deploy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8696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Observe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10241280" y="2871216"/>
            <a:ext cx="1024128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45DAB"/>
                </a:solidFill>
              </a:rPr>
              <a:t>Generalise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188720" y="4663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D3E"/>
                </a:solidFill>
              </a:rPr>
              <a:t>One question per step is most of the job.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07008" y="52578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What is the user trying to do? What measurable change proves this was worth building? What breaks in real use?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Prototype thinking vs FDE thinking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The shift that separates demo-builders from production owners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E8"/>
                </a:solidFill>
              </a:rPr>
              <a:t>Prototype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76656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8E8"/>
                </a:solidFill>
              </a:rPr>
              <a:t>FDE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35A9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DF0FF"/>
                </a:solidFill>
              </a:rPr>
              <a:t>Can the LLM answer?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577840" y="2121408"/>
            <a:ext cx="777240" cy="0"/>
          </a:xfrm>
          <a:prstGeom prst="line">
            <a:avLst/>
          </a:prstGeom>
          <a:noFill/>
          <a:ln w="15240">
            <a:solidFill>
              <a:srgbClr val="00A8E8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675120" y="1920240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DDF0FF"/>
          </a:solidFill>
          <a:ln w="10160">
            <a:solidFill>
              <a:srgbClr val="00A8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90" dirty="0">
                <a:solidFill>
                  <a:srgbClr val="071D3E"/>
                </a:solidFill>
              </a:rPr>
              <a:t>Can the right user get the right answer from a permitted source?</a:t>
            </a:r>
            <a:endParaRPr lang="en-US" sz="1290" dirty="0"/>
          </a:p>
        </p:txBody>
      </p:sp>
      <p:sp>
        <p:nvSpPr>
          <p:cNvPr id="10" name="Text 8"/>
          <p:cNvSpPr/>
          <p:nvPr/>
        </p:nvSpPr>
        <p:spPr>
          <a:xfrm>
            <a:off x="822960" y="2596896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35A9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DF0FF"/>
                </a:solidFill>
              </a:rPr>
              <a:t>Answer looks good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577840" y="2798064"/>
            <a:ext cx="777240" cy="0"/>
          </a:xfrm>
          <a:prstGeom prst="line">
            <a:avLst/>
          </a:prstGeom>
          <a:noFill/>
          <a:ln w="15240">
            <a:solidFill>
              <a:srgbClr val="00A8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675120" y="2596896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DDF0FF"/>
          </a:solidFill>
          <a:ln w="10160">
            <a:solidFill>
              <a:srgbClr val="00A8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90" dirty="0">
                <a:solidFill>
                  <a:srgbClr val="071D3E"/>
                </a:solidFill>
              </a:rPr>
              <a:t>Passes evals and cites evidence</a:t>
            </a:r>
            <a:endParaRPr lang="en-US" sz="1290" dirty="0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35A9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DF0FF"/>
                </a:solidFill>
              </a:rPr>
              <a:t>Runs on my laptop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577840" y="3474720"/>
            <a:ext cx="777240" cy="0"/>
          </a:xfrm>
          <a:prstGeom prst="line">
            <a:avLst/>
          </a:prstGeom>
          <a:noFill/>
          <a:ln w="15240">
            <a:solidFill>
              <a:srgbClr val="00A8E8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675120" y="3273552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DDF0FF"/>
          </a:solidFill>
          <a:ln w="10160">
            <a:solidFill>
              <a:srgbClr val="00A8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90" dirty="0">
                <a:solidFill>
                  <a:srgbClr val="071D3E"/>
                </a:solidFill>
              </a:rPr>
              <a:t>Deployable, observable, secure, fast enough</a:t>
            </a:r>
            <a:endParaRPr lang="en-US" sz="1290" dirty="0"/>
          </a:p>
        </p:txBody>
      </p:sp>
      <p:sp>
        <p:nvSpPr>
          <p:cNvPr id="16" name="Text 14"/>
          <p:cNvSpPr/>
          <p:nvPr/>
        </p:nvSpPr>
        <p:spPr>
          <a:xfrm>
            <a:off x="822960" y="3950208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35A9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DF0FF"/>
                </a:solidFill>
              </a:rPr>
              <a:t>We used a vector DB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577840" y="4151376"/>
            <a:ext cx="777240" cy="0"/>
          </a:xfrm>
          <a:prstGeom prst="line">
            <a:avLst/>
          </a:prstGeom>
          <a:noFill/>
          <a:ln w="15240">
            <a:solidFill>
              <a:srgbClr val="00A8E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675120" y="3950208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DDF0FF"/>
          </a:solidFill>
          <a:ln w="10160">
            <a:solidFill>
              <a:srgbClr val="00A8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90" dirty="0">
                <a:solidFill>
                  <a:srgbClr val="071D3E"/>
                </a:solidFill>
              </a:rPr>
              <a:t>Retrieval and caching fit user behaviour</a:t>
            </a:r>
            <a:endParaRPr lang="en-US" sz="1290" dirty="0"/>
          </a:p>
        </p:txBody>
      </p:sp>
      <p:sp>
        <p:nvSpPr>
          <p:cNvPr id="19" name="Text 17"/>
          <p:cNvSpPr/>
          <p:nvPr/>
        </p:nvSpPr>
        <p:spPr>
          <a:xfrm>
            <a:off x="822960" y="4626864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35A9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DDF0FF"/>
                </a:solidFill>
              </a:rPr>
              <a:t>Demo is done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577840" y="4828032"/>
            <a:ext cx="777240" cy="0"/>
          </a:xfrm>
          <a:prstGeom prst="line">
            <a:avLst/>
          </a:prstGeom>
          <a:noFill/>
          <a:ln w="15240">
            <a:solidFill>
              <a:srgbClr val="00A8E8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6675120" y="4626864"/>
            <a:ext cx="4434840" cy="384048"/>
          </a:xfrm>
          <a:prstGeom prst="roundRect">
            <a:avLst>
              <a:gd name="adj" fmla="val 19048"/>
            </a:avLst>
          </a:prstGeom>
          <a:solidFill>
            <a:srgbClr val="DDF0FF"/>
          </a:solidFill>
          <a:ln w="10160">
            <a:solidFill>
              <a:srgbClr val="00A8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90" dirty="0">
                <a:solidFill>
                  <a:srgbClr val="071D3E"/>
                </a:solidFill>
              </a:rPr>
              <a:t>Feedback loop has started</a:t>
            </a:r>
            <a:endParaRPr lang="en-US" sz="129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intuition: next token prediction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Ask the class before revealing the mechanism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71D3E"/>
                </a:solidFill>
              </a:rPr>
              <a:t>The customer returned the product because it was ____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88720" y="29718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damaged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60320" y="2990088"/>
            <a:ext cx="4754880" cy="155448"/>
          </a:xfrm>
          <a:prstGeom prst="rect">
            <a:avLst/>
          </a:prstGeom>
          <a:solidFill>
            <a:srgbClr val="145DAB"/>
          </a:solidFill>
          <a:ln w="12700">
            <a:solidFill>
              <a:srgbClr val="145DA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29535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48%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188720" y="34290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defective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3447288"/>
            <a:ext cx="2476500" cy="1554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43800" y="3410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25%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188720" y="38862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late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3904488"/>
            <a:ext cx="1386840" cy="1554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38679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14%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188720" y="43434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wrong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60320" y="4361688"/>
            <a:ext cx="792480" cy="1554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43251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8%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188720" y="480060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4364B"/>
                </a:solidFill>
              </a:rPr>
              <a:t>expensive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4818888"/>
            <a:ext cx="495300" cy="155448"/>
          </a:xfrm>
          <a:prstGeom prst="rect">
            <a:avLst/>
          </a:prstGeom>
          <a:solidFill>
            <a:srgbClr val="00A8E8">
              <a:alpha val="75000"/>
            </a:srgbClr>
          </a:solidFill>
          <a:ln w="12700">
            <a:solidFill>
              <a:srgbClr val="00A8E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47823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93"/>
                </a:solidFill>
              </a:rPr>
              <a:t>5%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2606040"/>
            <a:ext cx="2606040" cy="1417320"/>
          </a:xfrm>
          <a:prstGeom prst="roundRect">
            <a:avLst>
              <a:gd name="adj" fmla="val 7742"/>
            </a:avLst>
          </a:prstGeom>
          <a:solidFill>
            <a:srgbClr val="EAF3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64B"/>
                </a:solidFill>
              </a:rPr>
              <a:t>The whole mechanism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64B"/>
                </a:solidFill>
              </a:rPr>
              <a:t>Pick one likely next piece of text, attach it, then repeat. Fluency is the result of doing this extremely well.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the LLM: five stages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Plain English first, one level deeper second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E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Tokenise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FE3FF"/>
                </a:solidFill>
              </a:rPr>
              <a:t>Cut text into pieces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1508760" y="2240280"/>
            <a:ext cx="905256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6324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E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180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Represent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788920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FE3FF"/>
                </a:solidFill>
              </a:rPr>
              <a:t>Turn pieces into numbers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3749040" y="2240280"/>
            <a:ext cx="905256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30352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E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12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Attend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FE3FF"/>
                </a:solidFill>
              </a:rPr>
              <a:t>Decide which words matter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5989320" y="2240280"/>
            <a:ext cx="905256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54380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E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5236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Transform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269480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FE3FF"/>
                </a:solidFill>
              </a:rPr>
              <a:t>Refine over many layers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8229600" y="2240280"/>
            <a:ext cx="905256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784080" y="2011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0A8E8"/>
          </a:solidFill>
          <a:ln w="10160">
            <a:solidFill>
              <a:srgbClr val="00A8E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71D3E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9264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Predict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09760" y="3182112"/>
            <a:ext cx="2011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dirty="0">
                <a:solidFill>
                  <a:srgbClr val="CFE3FF"/>
                </a:solidFill>
              </a:rPr>
              <a:t>Score the next token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1097280" y="516636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A8E8"/>
                </a:solidFill>
              </a:rPr>
              <a:t>Hallucination = plausible continuation without enough grounding.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first fix for a confident wrong answer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Grounding beats randomness tweaks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9326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71D3E"/>
                </a:solidFill>
              </a:rPr>
              <a:t>Company leave policy answer is confident but wrong. What do you fix first?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51560" y="274320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A  Raise temperature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Not the first fix.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80560" y="274320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B  Use bigger model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Not the first fix.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09560" y="2743200"/>
            <a:ext cx="2468880" cy="1005840"/>
          </a:xfrm>
          <a:prstGeom prst="roundRect">
            <a:avLst>
              <a:gd name="adj" fmla="val 10909"/>
            </a:avLst>
          </a:prstGeom>
          <a:solidFill>
            <a:srgbClr val="DFF6EA"/>
          </a:solidFill>
          <a:ln w="12700">
            <a:solidFill>
              <a:srgbClr val="8EE3B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C  Give verified document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64B"/>
                </a:solidFill>
              </a:rPr>
              <a:t>Correct: ground the answer in evidence.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8920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45DAB"/>
                </a:solidFill>
              </a:rPr>
              <a:t>Temperature changes randomness. It does not make the answer true.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high_tech_vector_illustration_on_a_dark_n_batch_2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94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= open-book exam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85800" y="1234440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DF0FF"/>
                </a:solidFill>
              </a:rPr>
              <a:t>We find the relevant pages first. The model answers from evidence, not memory.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13232" y="5230368"/>
            <a:ext cx="338328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Closed book: model guesses from memory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343400" y="5230368"/>
            <a:ext cx="2880360" cy="384048"/>
          </a:xfrm>
          <a:prstGeom prst="roundRect">
            <a:avLst>
              <a:gd name="adj" fmla="val 19048"/>
            </a:avLst>
          </a:prstGeom>
          <a:solidFill>
            <a:srgbClr val="0B2D5C"/>
          </a:solidFill>
          <a:ln w="10160">
            <a:solidFill>
              <a:srgbClr val="2F80ED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Open book: retrieve → answer → cite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RAG is two systems, not one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Offline preparation + online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DAB"/>
                </a:solidFill>
              </a:rPr>
              <a:t>Offline: prepare knowledge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0" y="1600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5DAB"/>
                </a:solidFill>
              </a:rPr>
              <a:t>Online: answer question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Connect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1444752" y="2331720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Parse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2203704" y="2331720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Chunk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2962656" y="2331720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Embed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3721608" y="2331720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Index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4480560" y="2331720"/>
            <a:ext cx="658368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Version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1234440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993392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752344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11296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270248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172200" y="2331720"/>
            <a:ext cx="6217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DAB"/>
                </a:solidFill>
              </a:rPr>
              <a:t>Auth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85432" y="2331720"/>
            <a:ext cx="6217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DAB"/>
                </a:solidFill>
              </a:rPr>
              <a:t>Rewrite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598664" y="2331720"/>
            <a:ext cx="6217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DAB"/>
                </a:solidFill>
              </a:rPr>
              <a:t>Filter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11896" y="2331720"/>
            <a:ext cx="6217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DAB"/>
                </a:solidFill>
              </a:rPr>
              <a:t>Retrieve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025128" y="2331720"/>
            <a:ext cx="6217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DAB"/>
                </a:solidFill>
              </a:rPr>
              <a:t>Rerank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9738360" y="2331720"/>
            <a:ext cx="6217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DAB"/>
                </a:solidFill>
              </a:rPr>
              <a:t>Generate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0451592" y="2331720"/>
            <a:ext cx="621792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5DAB"/>
                </a:solidFill>
              </a:rPr>
              <a:t>Cite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629400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42632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55864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769096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482328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195560" y="2487168"/>
            <a:ext cx="182880" cy="0"/>
          </a:xfrm>
          <a:prstGeom prst="line">
            <a:avLst/>
          </a:prstGeom>
          <a:noFill/>
          <a:ln w="1016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1005840" y="39319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EAF3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64B"/>
                </a:solidFill>
              </a:rPr>
              <a:t>Embeddings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64B"/>
                </a:solidFill>
              </a:rPr>
              <a:t>A location on a map of meaning. “Car” and “vehicle” are near; “car” and “carrot” are not.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583680" y="3931920"/>
            <a:ext cx="3840480" cy="1051560"/>
          </a:xfrm>
          <a:prstGeom prst="roundRect">
            <a:avLst>
              <a:gd name="adj" fmla="val 10435"/>
            </a:avLst>
          </a:prstGeom>
          <a:solidFill>
            <a:srgbClr val="EAF3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4364B"/>
                </a:solidFill>
              </a:rPr>
              <a:t>Debugging lesson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4364B"/>
                </a:solidFill>
              </a:rPr>
              <a:t>Only one box is the model. When “AI is wrong,” first find which box broke.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“good RAG” really means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A checklist for demos, interviews, and production reviews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Evidence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Right chunks are retrieved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3611880" y="16916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Faithfulness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Answer stays inside evidence</a:t>
            </a:r>
            <a:endParaRPr lang="en-US" sz="1220" dirty="0"/>
          </a:p>
        </p:txBody>
      </p:sp>
      <p:sp>
        <p:nvSpPr>
          <p:cNvPr id="7" name="Text 5"/>
          <p:cNvSpPr/>
          <p:nvPr/>
        </p:nvSpPr>
        <p:spPr>
          <a:xfrm>
            <a:off x="6400800" y="16916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Sources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Citations are visible and correct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9189720" y="169164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Refusal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Abstains when evidence is missing</a:t>
            </a:r>
            <a:endParaRPr lang="en-US" sz="122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DFF6EA"/>
          </a:solidFill>
          <a:ln w="12700">
            <a:solidFill>
              <a:srgbClr val="8EE3B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Permissions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Filters before content reaches model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611880" y="292608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Latency + cost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Survive real usage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6400800" y="2926080"/>
            <a:ext cx="21031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Freshness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Updates and deletes propagate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960120" y="50749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71D3E"/>
                </a:solidFill>
              </a:rPr>
              <a:t>RAG does not make an LLM truthful. It builds a system that retrieves evidence, constrains the answer, and makes failure measurable.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Four-minute break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Come back with one use case and one failure mode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E8"/>
                </a:solidFill>
              </a:rPr>
              <a:t>In chat before you go: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23160"/>
            <a:ext cx="804672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2000" dirty="0">
                <a:solidFill>
                  <a:srgbClr val="DDF0FF"/>
                </a:solidFill>
              </a:rPr>
              <a:t>One AI use case + one way it could fail in production</a:t>
            </a:r>
            <a:endParaRPr lang="en-US" sz="2000" dirty="0"/>
          </a:p>
          <a:p>
            <a:r>
              <a:rPr lang="en-US" sz="2000" dirty="0">
                <a:solidFill>
                  <a:srgbClr val="DDF0FF"/>
                </a:solidFill>
              </a:rPr>
              <a:t>Your current role if you are transitioning into this field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8463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A9C2E8"/>
                </a:solidFill>
              </a:rPr>
              <a:t>Testing · support · mechanical · civil · teaching · sales · fresher · non-tech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 1: Enterprise RAG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Financial services policy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5DAB"/>
                </a:solidFill>
              </a:rPr>
              <a:t>500k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B7C93"/>
                </a:solidFill>
              </a:rPr>
              <a:t>internal documents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297180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5DAB"/>
                </a:solidFill>
              </a:rPr>
              <a:t>5k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2971800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B7C93"/>
                </a:solidFill>
              </a:rPr>
              <a:t>employees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512064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5DAB"/>
                </a:solidFill>
              </a:rPr>
              <a:t>strict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120640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B7C93"/>
                </a:solidFill>
              </a:rPr>
              <a:t>access controls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726948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5DAB"/>
                </a:solidFill>
              </a:rPr>
              <a:t>&lt;5s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269480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B7C93"/>
                </a:solidFill>
              </a:rPr>
              <a:t>target latency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9418320" y="182880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5DAB"/>
                </a:solidFill>
              </a:rPr>
              <a:t>must cite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9418320" y="231343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6B7C93"/>
                </a:solidFill>
              </a:rPr>
              <a:t>every answer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DAB"/>
                </a:solidFill>
              </a:rPr>
              <a:t>Clarify before architecture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069080"/>
            <a:ext cx="85039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24364B"/>
                </a:solidFill>
              </a:rPr>
              <a:t>Who uses it and what decision follows?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How are permissions represented today?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How fresh must answers be?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What does “citation” mean exactly?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Which mistakes are unacceptable?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RAG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Permission-aware retrieval before generation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3090672"/>
            <a:ext cx="365760" cy="0"/>
          </a:xfrm>
          <a:prstGeom prst="line">
            <a:avLst/>
          </a:prstGeom>
          <a:noFill/>
          <a:ln w="1270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017520" y="3090672"/>
            <a:ext cx="365760" cy="0"/>
          </a:xfrm>
          <a:prstGeom prst="line">
            <a:avLst/>
          </a:prstGeom>
          <a:noFill/>
          <a:ln w="1270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26280" y="3090672"/>
            <a:ext cx="365760" cy="0"/>
          </a:xfrm>
          <a:prstGeom prst="line">
            <a:avLst/>
          </a:prstGeom>
          <a:noFill/>
          <a:ln w="1270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035040" y="3090672"/>
            <a:ext cx="365760" cy="0"/>
          </a:xfrm>
          <a:prstGeom prst="line">
            <a:avLst/>
          </a:prstGeom>
          <a:noFill/>
          <a:ln w="1270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543800" y="3090672"/>
            <a:ext cx="365760" cy="0"/>
          </a:xfrm>
          <a:prstGeom prst="line">
            <a:avLst/>
          </a:prstGeom>
          <a:noFill/>
          <a:ln w="1270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9052560" y="3090672"/>
            <a:ext cx="365760" cy="0"/>
          </a:xfrm>
          <a:prstGeom prst="line">
            <a:avLst/>
          </a:prstGeom>
          <a:noFill/>
          <a:ln w="1270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1143000" cy="1124712"/>
          </a:xfrm>
          <a:prstGeom prst="roundRect">
            <a:avLst>
              <a:gd name="adj" fmla="val 6504"/>
            </a:avLst>
          </a:prstGeom>
          <a:solidFill>
            <a:srgbClr val="EAF3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Sources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SharePoint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DBs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Scans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2148840" y="2468880"/>
            <a:ext cx="1143000" cy="1124712"/>
          </a:xfrm>
          <a:prstGeom prst="roundRect">
            <a:avLst>
              <a:gd name="adj" fmla="val 6504"/>
            </a:avLst>
          </a:prstGeom>
          <a:solidFill>
            <a:srgbClr val="EAF3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Ingestion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OCR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cleaning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versioning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1143000" cy="1124712"/>
          </a:xfrm>
          <a:prstGeom prst="roundRect">
            <a:avLst>
              <a:gd name="adj" fmla="val 6504"/>
            </a:avLst>
          </a:prstGeom>
          <a:solidFill>
            <a:srgbClr val="EAF3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Indexes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Vector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keyword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metadata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5166360" y="2468880"/>
            <a:ext cx="1143000" cy="1124712"/>
          </a:xfrm>
          <a:prstGeom prst="roundRect">
            <a:avLst>
              <a:gd name="adj" fmla="val 6504"/>
            </a:avLst>
          </a:prstGeom>
          <a:solidFill>
            <a:srgbClr val="EAF3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Query service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auth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filters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routing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6675120" y="2468880"/>
            <a:ext cx="1143000" cy="1124712"/>
          </a:xfrm>
          <a:prstGeom prst="roundRect">
            <a:avLst>
              <a:gd name="adj" fmla="val 6504"/>
            </a:avLst>
          </a:prstGeom>
          <a:solidFill>
            <a:srgbClr val="EAF3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Retrieval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hybrid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rerank</a:t>
            </a:r>
            <a:endParaRPr lang="en-US" sz="940" dirty="0"/>
          </a:p>
        </p:txBody>
      </p:sp>
      <p:sp>
        <p:nvSpPr>
          <p:cNvPr id="16" name="Text 14"/>
          <p:cNvSpPr/>
          <p:nvPr/>
        </p:nvSpPr>
        <p:spPr>
          <a:xfrm>
            <a:off x="8183880" y="2468880"/>
            <a:ext cx="1143000" cy="1124712"/>
          </a:xfrm>
          <a:prstGeom prst="roundRect">
            <a:avLst>
              <a:gd name="adj" fmla="val 6504"/>
            </a:avLst>
          </a:prstGeom>
          <a:solidFill>
            <a:srgbClr val="EAF3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LLM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grounded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answer</a:t>
            </a:r>
            <a:endParaRPr lang="en-US" sz="940" dirty="0"/>
          </a:p>
        </p:txBody>
      </p:sp>
      <p:sp>
        <p:nvSpPr>
          <p:cNvPr id="17" name="Text 15"/>
          <p:cNvSpPr/>
          <p:nvPr/>
        </p:nvSpPr>
        <p:spPr>
          <a:xfrm>
            <a:off x="9692640" y="2468880"/>
            <a:ext cx="1143000" cy="1124712"/>
          </a:xfrm>
          <a:prstGeom prst="roundRect">
            <a:avLst>
              <a:gd name="adj" fmla="val 6504"/>
            </a:avLst>
          </a:prstGeom>
          <a:solidFill>
            <a:srgbClr val="EAF3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Citations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source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071D3E"/>
                </a:solidFill>
              </a:rPr>
              <a:t>spans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841248" y="4160520"/>
            <a:ext cx="9875520" cy="0"/>
          </a:xfrm>
          <a:prstGeom prst="line">
            <a:avLst/>
          </a:prstGeom>
          <a:noFill/>
          <a:ln w="15240">
            <a:solidFill>
              <a:srgbClr val="00A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80160" y="4526280"/>
            <a:ext cx="8869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DF0FF"/>
                </a:solidFill>
              </a:rPr>
              <a:t>Identity + permissions sit underneath retrieval. Evaluation + observability run across everything.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RAG trade-offs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Never answer with a tool name alone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Chunking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Fixed → semantic / parent-child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26280" y="169164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Retrieval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Vector only → hybrid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0" y="169164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Vector store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Managed → self-hosted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Model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One premium → routing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26280" y="288036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Caching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None → permission-aware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229600" y="2880360"/>
            <a:ext cx="292608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Rollout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24364B"/>
                </a:solidFill>
              </a:rPr>
              <a:t>Big bang → staged pilot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80" b="1" dirty="0">
                <a:solidFill>
                  <a:srgbClr val="071D3E"/>
                </a:solidFill>
              </a:rPr>
              <a:t>Weak: “Use Qdrant.”  Strong: “I need self-hosting, metadata filters, and deployment control; Qdrant is one candidate.”</a:t>
            </a:r>
            <a:endParaRPr lang="en-US" sz="178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RAG debugging +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Diagnose before touching the model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55448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Wrong answer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Correct chunk never retrieved</a:t>
            </a:r>
            <a:endParaRPr lang="en-US" sz="1240" dirty="0"/>
          </a:p>
        </p:txBody>
      </p:sp>
      <p:sp>
        <p:nvSpPr>
          <p:cNvPr id="6" name="Text 4"/>
          <p:cNvSpPr/>
          <p:nvPr/>
        </p:nvSpPr>
        <p:spPr>
          <a:xfrm>
            <a:off x="4434840" y="155448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Contradiction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Correct chunk retrieved</a:t>
            </a:r>
            <a:endParaRPr lang="en-US" sz="1240" dirty="0"/>
          </a:p>
        </p:txBody>
      </p:sp>
      <p:sp>
        <p:nvSpPr>
          <p:cNvPr id="7" name="Text 5"/>
          <p:cNvSpPr/>
          <p:nvPr/>
        </p:nvSpPr>
        <p:spPr>
          <a:xfrm>
            <a:off x="8183880" y="155448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Bad citation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Claim not supported</a:t>
            </a:r>
            <a:endParaRPr lang="en-US" sz="1240" dirty="0"/>
          </a:p>
        </p:txBody>
      </p:sp>
      <p:sp>
        <p:nvSpPr>
          <p:cNvPr id="8" name="Text 6"/>
          <p:cNvSpPr/>
          <p:nvPr/>
        </p:nvSpPr>
        <p:spPr>
          <a:xfrm>
            <a:off x="685800" y="260604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Data leak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Restricted doc visible</a:t>
            </a:r>
            <a:endParaRPr lang="en-US" sz="124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Stale answer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Old policy retrieved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8183880" y="2606040"/>
            <a:ext cx="297180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Slow P95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24364B"/>
                </a:solidFill>
              </a:rPr>
              <a:t>Trace every stage</a:t>
            </a:r>
            <a:endParaRPr lang="en-US" sz="1240" dirty="0"/>
          </a:p>
        </p:txBody>
      </p:sp>
      <p:sp>
        <p:nvSpPr>
          <p:cNvPr id="11" name="Text 9"/>
          <p:cNvSpPr/>
          <p:nvPr/>
        </p:nvSpPr>
        <p:spPr>
          <a:xfrm>
            <a:off x="86868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DAB"/>
                </a:solidFill>
              </a:rPr>
              <a:t>Metrics to say out loud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4572000"/>
            <a:ext cx="96012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50" dirty="0">
                <a:solidFill>
                  <a:srgbClr val="24364B"/>
                </a:solidFill>
              </a:rPr>
              <a:t>Context recall and precision</a:t>
            </a:r>
            <a:endParaRPr lang="en-US" sz="1550" dirty="0"/>
          </a:p>
          <a:p>
            <a:r>
              <a:rPr lang="en-US" sz="1550" dirty="0">
                <a:solidFill>
                  <a:srgbClr val="24364B"/>
                </a:solidFill>
              </a:rPr>
              <a:t>Faithfulness, citation accuracy, abstention quality</a:t>
            </a:r>
            <a:endParaRPr lang="en-US" sz="1550" dirty="0"/>
          </a:p>
          <a:p>
            <a:r>
              <a:rPr lang="en-US" sz="1550" dirty="0">
                <a:solidFill>
                  <a:srgbClr val="24364B"/>
                </a:solidFill>
              </a:rPr>
              <a:t>Self-service success rate and time saved</a:t>
            </a:r>
            <a:endParaRPr lang="en-US" sz="1550" dirty="0"/>
          </a:p>
          <a:p>
            <a:r>
              <a:rPr lang="en-US" sz="1550" dirty="0">
                <a:solidFill>
                  <a:srgbClr val="24364B"/>
                </a:solidFill>
              </a:rPr>
              <a:t>P50/P95 latency, permission violations, cost per successful task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isometric_infographic_illustration_scene_o_batch_3.png">    </p:cNvPr>
          <p:cNvPicPr>
            <a:picLocks noChangeAspect="1"/>
          </p:cNvPicPr>
          <p:nvPr/>
        </p:nvPicPr>
        <p:blipFill>
          <a:blip r:embed="rId1"/>
          <a:srcRect l="11730" r="11730" t="0" b="0"/>
          <a:stretch/>
        </p:blipFill>
        <p:spPr>
          <a:xfrm>
            <a:off x="5669280" y="1417320"/>
            <a:ext cx="6217920" cy="457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Study 2: Invoice agent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Extraction + tools + rules + human review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8E8"/>
                </a:solidFill>
              </a:rPr>
              <a:t>The case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31520" y="20574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Invoices must be matched to PO, checked against policy, screened for duplicates, and routed for approval or review.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4389120" cy="1115568"/>
          </a:xfrm>
          <a:prstGeom prst="roundRect">
            <a:avLst>
              <a:gd name="adj" fmla="val 9836"/>
            </a:avLst>
          </a:prstGeom>
          <a:solidFill>
            <a:srgbClr val="0B2D5C"/>
          </a:solidFill>
          <a:ln w="12700">
            <a:solidFill>
              <a:srgbClr val="2F80ED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DDF0FF"/>
                </a:solidFill>
              </a:rPr>
              <a:t>Pattern answer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DF0FF"/>
                </a:solidFill>
              </a:rPr>
              <a:t>It is all three in different places: structured extraction, RAG for policy, and a controlled tool-using agent.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Invoice workflow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The model helps read and explain; rules decide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3017520"/>
            <a:ext cx="283464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404872" y="3017520"/>
            <a:ext cx="283464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739896" y="3017520"/>
            <a:ext cx="283464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074920" y="3017520"/>
            <a:ext cx="283464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9944" y="3017520"/>
            <a:ext cx="283464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44968" y="3017520"/>
            <a:ext cx="283464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079992" y="3017520"/>
            <a:ext cx="283464" cy="0"/>
          </a:xfrm>
          <a:prstGeom prst="line">
            <a:avLst/>
          </a:prstGeom>
          <a:noFill/>
          <a:ln w="12700">
            <a:solidFill>
              <a:srgbClr val="9CBDE8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94360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Intake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1929384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OCR / parse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3264408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JSON extraction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Validate schema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934456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PO + vendor tools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7269480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Rules + policy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8604504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Decision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9939528" y="2514600"/>
            <a:ext cx="950976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45DAB"/>
                </a:solidFill>
              </a:rPr>
              <a:t>Human review / audit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1097280" y="461772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71D3E"/>
                </a:solidFill>
              </a:rPr>
              <a:t>Auto-approve only low-risk, high-confidence cases. Everything ambiguous goes to a person.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LLM must not decide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A small arithmetic example that saves the whole design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3840480" cy="1280160"/>
          </a:xfrm>
          <a:prstGeom prst="roundRect">
            <a:avLst>
              <a:gd name="adj" fmla="val 8571"/>
            </a:avLst>
          </a:prstGeom>
          <a:solidFill>
            <a:srgbClr val="0B2D5C"/>
          </a:solidFill>
          <a:ln w="1524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Invoice: ₹1,04,000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PO: ₹1,00,000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Policy tolerance: 2%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983480" y="2468880"/>
            <a:ext cx="914400" cy="0"/>
          </a:xfrm>
          <a:prstGeom prst="line">
            <a:avLst/>
          </a:prstGeom>
          <a:noFill/>
          <a:ln w="17780">
            <a:solidFill>
              <a:srgbClr val="00A8E8"/>
            </a:solidFill>
            <a:prstDash val="solid"/>
            <a:headEnd type="none"/>
            <a:tailEnd type="triangle"/>
          </a:ln>
        </p:spPr>
      </p:sp>
      <p:sp>
        <p:nvSpPr>
          <p:cNvPr id="7" name="Text 5"/>
          <p:cNvSpPr/>
          <p:nvPr/>
        </p:nvSpPr>
        <p:spPr>
          <a:xfrm>
            <a:off x="6172200" y="1874520"/>
            <a:ext cx="4297680" cy="1170432"/>
          </a:xfrm>
          <a:prstGeom prst="roundRect">
            <a:avLst>
              <a:gd name="adj" fmla="val 9375"/>
            </a:avLst>
          </a:prstGeom>
          <a:solidFill>
            <a:srgbClr val="DFF6EA"/>
          </a:solidFill>
          <a:ln w="15240">
            <a:solidFill>
              <a:srgbClr val="8EE3B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71D3E"/>
                </a:solidFill>
              </a:rPr>
              <a:t>Code calculates: 4% variance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71D3E"/>
                </a:solidFill>
              </a:rPr>
              <a:t>Result: human exception review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48006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DF0FF"/>
                </a:solidFill>
              </a:rPr>
              <a:t>The LLM can explain the exception. It must not be the source of truth for thresholds, math, or payment action.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 agent loop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A model inside a controlled system, not a free-running bot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98448" y="3017520"/>
            <a:ext cx="329184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962656" y="3017520"/>
            <a:ext cx="329184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626864" y="3017520"/>
            <a:ext cx="329184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91072" y="3017520"/>
            <a:ext cx="329184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55280" y="3017520"/>
            <a:ext cx="329184" cy="0"/>
          </a:xfrm>
          <a:prstGeom prst="line">
            <a:avLst/>
          </a:prstGeom>
          <a:noFill/>
          <a:ln w="12700">
            <a:solidFill>
              <a:srgbClr val="2F80ED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49808" y="2587752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5DAB"/>
                </a:solidFill>
              </a:rPr>
              <a:t>Goal</a:t>
            </a:r>
            <a:endParaRPr lang="en-US" sz="1040" dirty="0"/>
          </a:p>
        </p:txBody>
      </p:sp>
      <p:sp>
        <p:nvSpPr>
          <p:cNvPr id="11" name="Text 9"/>
          <p:cNvSpPr/>
          <p:nvPr/>
        </p:nvSpPr>
        <p:spPr>
          <a:xfrm>
            <a:off x="2414016" y="2587752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5DAB"/>
                </a:solidFill>
              </a:rPr>
              <a:t>Decide</a:t>
            </a:r>
            <a:endParaRPr lang="en-US" sz="1040" dirty="0"/>
          </a:p>
        </p:txBody>
      </p:sp>
      <p:sp>
        <p:nvSpPr>
          <p:cNvPr id="12" name="Text 10"/>
          <p:cNvSpPr/>
          <p:nvPr/>
        </p:nvSpPr>
        <p:spPr>
          <a:xfrm>
            <a:off x="4078224" y="2587752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5DAB"/>
                </a:solidFill>
              </a:rPr>
              <a:t>Call tool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5742432" y="2587752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5DAB"/>
                </a:solidFill>
              </a:rPr>
              <a:t>Observe</a:t>
            </a:r>
            <a:endParaRPr lang="en-US" sz="1040" dirty="0"/>
          </a:p>
        </p:txBody>
      </p:sp>
      <p:sp>
        <p:nvSpPr>
          <p:cNvPr id="14" name="Text 12"/>
          <p:cNvSpPr/>
          <p:nvPr/>
        </p:nvSpPr>
        <p:spPr>
          <a:xfrm>
            <a:off x="7406640" y="2587752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5DAB"/>
                </a:solidFill>
              </a:rPr>
              <a:t>Validate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9070848" y="2587752"/>
            <a:ext cx="1143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45DAB"/>
                </a:solidFill>
              </a:rPr>
              <a:t>Continue / stop / human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005840" y="4343400"/>
            <a:ext cx="896112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24364B"/>
                </a:solidFill>
              </a:rPr>
              <a:t>Typed function schemas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Least privilege and read-only first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Timeouts, retries, idempotency keys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Approval gates for irreversible actions</a:t>
            </a:r>
            <a:endParaRPr lang="en-US" sz="1600" dirty="0"/>
          </a:p>
          <a:p>
            <a:r>
              <a:rPr lang="en-US" sz="1600" dirty="0">
                <a:solidFill>
                  <a:srgbClr val="24364B"/>
                </a:solidFill>
              </a:rPr>
              <a:t>Audit log for every tool call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FDE practice tool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Knowledge disappears unless you use it under pressure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E8"/>
                </a:solidFill>
              </a:rPr>
              <a:t>Practice the actual motion: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057400"/>
            <a:ext cx="45720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900" dirty="0">
                <a:solidFill>
                  <a:srgbClr val="DDF0FF"/>
                </a:solidFill>
              </a:rPr>
              <a:t>Messy, under-specified business problem</a:t>
            </a:r>
            <a:endParaRPr lang="en-US" sz="1900" dirty="0"/>
          </a:p>
          <a:p>
            <a:r>
              <a:rPr lang="en-US" sz="1900" dirty="0">
                <a:solidFill>
                  <a:srgbClr val="DDF0FF"/>
                </a:solidFill>
              </a:rPr>
              <a:t>Ask clarifying questions</a:t>
            </a:r>
            <a:endParaRPr lang="en-US" sz="1900" dirty="0"/>
          </a:p>
          <a:p>
            <a:r>
              <a:rPr lang="en-US" sz="1900" dirty="0">
                <a:solidFill>
                  <a:srgbClr val="DDF0FF"/>
                </a:solidFill>
              </a:rPr>
              <a:t>Choose an architecture</a:t>
            </a:r>
            <a:endParaRPr lang="en-US" sz="1900" dirty="0"/>
          </a:p>
          <a:p>
            <a:r>
              <a:rPr lang="en-US" sz="1900" dirty="0">
                <a:solidFill>
                  <a:srgbClr val="DDF0FF"/>
                </a:solidFill>
              </a:rPr>
              <a:t>Defend trade-offs under pushback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46520" y="205740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0B2D5C"/>
          </a:solidFill>
          <a:ln w="12700">
            <a:solidFill>
              <a:srgbClr val="2F80ED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DF0FF"/>
                </a:solidFill>
              </a:rPr>
              <a:t>Live demo script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DDF0FF"/>
                </a:solidFill>
              </a:rPr>
              <a:t>Show what happens when you skip clarifying questions. Then ask about scale, security, and success metric first.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16636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A8E8"/>
                </a:solidFill>
              </a:rPr>
              <a:t>30 minutes a day for two weeks builds fluency because you have said the arguments out loud fifty times.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clean_vector_illustration_style_infographic_s_batch_4.png">    </p:cNvPr>
          <p:cNvPicPr>
            <a:picLocks noChangeAspect="1"/>
          </p:cNvPicPr>
          <p:nvPr/>
        </p:nvPicPr>
        <p:blipFill>
          <a:blip r:embed="rId1"/>
          <a:srcRect l="13820" r="13820" t="0" b="0"/>
          <a:stretch/>
        </p:blipFill>
        <p:spPr>
          <a:xfrm>
            <a:off x="5760720" y="1508760"/>
            <a:ext cx="5760720" cy="4480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90-day roadmap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Four pillars. Three out of four keeps people stuck.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1600200"/>
            <a:ext cx="4526280" cy="667512"/>
          </a:xfrm>
          <a:prstGeom prst="roundRect">
            <a:avLst>
              <a:gd name="adj" fmla="val 16438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Software engineering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Python, APIs, SQL, Git, testing</a:t>
            </a:r>
            <a:endParaRPr lang="en-US" sz="1220" dirty="0"/>
          </a:p>
        </p:txBody>
      </p:sp>
      <p:sp>
        <p:nvSpPr>
          <p:cNvPr id="7" name="Text 4"/>
          <p:cNvSpPr/>
          <p:nvPr/>
        </p:nvSpPr>
        <p:spPr>
          <a:xfrm>
            <a:off x="685800" y="2514600"/>
            <a:ext cx="4526280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Applied AI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LLMs, RAG, extraction, tool calling, evals</a:t>
            </a:r>
            <a:endParaRPr lang="en-US" sz="1220" dirty="0"/>
          </a:p>
        </p:txBody>
      </p:sp>
      <p:sp>
        <p:nvSpPr>
          <p:cNvPr id="8" name="Text 5"/>
          <p:cNvSpPr/>
          <p:nvPr/>
        </p:nvSpPr>
        <p:spPr>
          <a:xfrm>
            <a:off x="685800" y="3429000"/>
            <a:ext cx="4526280" cy="667512"/>
          </a:xfrm>
          <a:prstGeom prst="roundRect">
            <a:avLst>
              <a:gd name="adj" fmla="val 16438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Production systems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Docker, auth, logging, queues, cost</a:t>
            </a:r>
            <a:endParaRPr lang="en-US" sz="1220" dirty="0"/>
          </a:p>
        </p:txBody>
      </p:sp>
      <p:sp>
        <p:nvSpPr>
          <p:cNvPr id="9" name="Text 6"/>
          <p:cNvSpPr/>
          <p:nvPr/>
        </p:nvSpPr>
        <p:spPr>
          <a:xfrm>
            <a:off x="685800" y="4343400"/>
            <a:ext cx="4526280" cy="667512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Customer problem-solving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4364B"/>
                </a:solidFill>
              </a:rPr>
              <a:t>Discovery, scoping, trade-offs, demos</a:t>
            </a:r>
            <a:endParaRPr lang="en-US" sz="1220" dirty="0"/>
          </a:p>
        </p:txBody>
      </p:sp>
      <p:sp>
        <p:nvSpPr>
          <p:cNvPr id="10" name="Text 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12-week build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By the end, you should have proof, not only notes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Weeks 1–2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Python, APIs, SQL, Git, testing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4480560" y="160020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Weeks 3–4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Basic RAG with visible retrieval + citations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8183880" y="160020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Weeks 5–6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Hybrid retrieval, filters, 30–50 eval questions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Weeks 7–8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Agent calling two real tools with typed schemas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4480560" y="301752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7E7FB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Weeks 9–10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FastAPI, Docker, auth, logging, latency/cost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183880" y="3017520"/>
            <a:ext cx="2971800" cy="914400"/>
          </a:xfrm>
          <a:prstGeom prst="roundRect">
            <a:avLst>
              <a:gd name="adj" fmla="val 12000"/>
            </a:avLst>
          </a:prstGeom>
          <a:solidFill>
            <a:srgbClr val="DFF6EA"/>
          </a:solidFill>
          <a:ln w="12700">
            <a:solidFill>
              <a:srgbClr val="8EE3B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Weeks 11–12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24364B"/>
                </a:solidFill>
              </a:rPr>
              <a:t>Capstone, demo video, README, mock interviews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68680" y="5074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71D3E"/>
                </a:solidFill>
              </a:rPr>
              <a:t>Beginner → resume/course RAG.  Intermediate → policy assistant.  Advanced → invoice/support agent.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Portfolio proof + interview answer skeleton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A strong portfolio shows judgment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Problem + user workflow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52044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Constraint + success metric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6364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Architecture diagram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006840" y="16459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Tools chosen and rejected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Evaluation results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20440" y="2331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Failure modes and fixes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63640" y="2331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Deployment + cost notes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9006840" y="2331720"/>
            <a:ext cx="21488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0160">
            <a:solidFill>
              <a:srgbClr val="BFD7F4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5DAB"/>
                </a:solidFill>
              </a:rPr>
              <a:t>3-minute demo video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411480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71D3E"/>
                </a:solidFill>
              </a:rPr>
              <a:t>Context → Constraint → Options → Decision → Trade-off → Metric → Failure mode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19456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6B7C93"/>
                </a:solidFill>
              </a:rPr>
              <a:t>Use this skeleton whenever an interview question feels too open-ended.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structured learning fits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CFE3FF"/>
                </a:solidFill>
              </a:rPr>
              <a:t>Sequence, accountability, feedback, interview practice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00A8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5960" y="2971800"/>
            <a:ext cx="365760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3931920" y="2971800"/>
            <a:ext cx="365760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897880" y="2971800"/>
            <a:ext cx="365760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863840" y="2971800"/>
            <a:ext cx="365760" cy="0"/>
          </a:xfrm>
          <a:prstGeom prst="line">
            <a:avLst/>
          </a:prstGeom>
          <a:noFill/>
          <a:ln w="13970">
            <a:solidFill>
              <a:srgbClr val="65B5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3E"/>
                </a:solidFill>
              </a:rPr>
              <a:t>Structure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880360" y="25146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3E"/>
                </a:solidFill>
              </a:rPr>
              <a:t>Projects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25146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3E"/>
                </a:solidFill>
              </a:rPr>
              <a:t>Feedback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812280" y="25146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3E"/>
                </a:solidFill>
              </a:rPr>
              <a:t>Community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778240" y="2514600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71D3E"/>
                </a:solidFill>
              </a:rPr>
              <a:t>Interview readiness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E8"/>
                </a:solidFill>
              </a:rPr>
              <a:t>Ask any programme three questions: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4663440"/>
            <a:ext cx="77724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DDF0FF"/>
                </a:solidFill>
              </a:rPr>
              <a:t>Which production-style projects will I ship?</a:t>
            </a:r>
            <a:endParaRPr lang="en-US" sz="1600" dirty="0"/>
          </a:p>
          <a:p>
            <a:r>
              <a:rPr lang="en-US" sz="1600" dirty="0">
                <a:solidFill>
                  <a:srgbClr val="DDF0FF"/>
                </a:solidFill>
              </a:rPr>
              <a:t>Who reviews my work?</a:t>
            </a:r>
            <a:endParaRPr lang="en-US" sz="1600" dirty="0"/>
          </a:p>
          <a:p>
            <a:r>
              <a:rPr lang="en-US" sz="1600" dirty="0">
                <a:solidFill>
                  <a:srgbClr val="DDF0FF"/>
                </a:solidFill>
              </a:rPr>
              <a:t>How is interview readiness measured?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Tonight’s action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77240" y="1463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DF0FF"/>
                </a:solidFill>
              </a:rPr>
              <a:t>Create one GitHub repository. In the README, write four lines: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920240" cy="804672"/>
          </a:xfrm>
          <a:prstGeom prst="roundRect">
            <a:avLst>
              <a:gd name="adj" fmla="val 13636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71D3E"/>
                </a:solidFill>
              </a:rPr>
              <a:t>User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566160" y="2743200"/>
            <a:ext cx="1920240" cy="804672"/>
          </a:xfrm>
          <a:prstGeom prst="roundRect">
            <a:avLst>
              <a:gd name="adj" fmla="val 13636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71D3E"/>
                </a:solidFill>
              </a:rPr>
              <a:t>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17920" y="2743200"/>
            <a:ext cx="1920240" cy="804672"/>
          </a:xfrm>
          <a:prstGeom prst="roundRect">
            <a:avLst>
              <a:gd name="adj" fmla="val 13636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71D3E"/>
                </a:solidFill>
              </a:rPr>
              <a:t>Success metric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869680" y="2743200"/>
            <a:ext cx="1920240" cy="804672"/>
          </a:xfrm>
          <a:prstGeom prst="roundRect">
            <a:avLst>
              <a:gd name="adj" fmla="val 13636"/>
            </a:avLst>
          </a:prstGeom>
          <a:solidFill>
            <a:srgbClr val="DDF0FF"/>
          </a:solidFill>
          <a:ln w="12700">
            <a:solidFill>
              <a:srgbClr val="00A8E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71D3E"/>
                </a:solidFill>
              </a:rPr>
              <a:t>Seven-day version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93776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8E8"/>
                </a:solidFill>
              </a:rPr>
              <a:t>Do not wait to feel ready. Build one small system, put it in front of one real user, study what fails, and improve it.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9C2E8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71D3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Q&amp;A buckets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987552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7C93"/>
                </a:solidFill>
              </a:rPr>
              <a:t>Start your question with the bucket so more people can be helped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097280" cy="0"/>
          </a:xfrm>
          <a:prstGeom prst="line">
            <a:avLst/>
          </a:prstGeom>
          <a:noFill/>
          <a:ln w="2540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2860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Role &amp; career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Transition, background, role expectations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343400" y="22860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Technical architecture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LLMs, RAG, agents, deployment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60" y="2286000"/>
            <a:ext cx="2560320" cy="1188720"/>
          </a:xfrm>
          <a:prstGeom prst="roundRect">
            <a:avLst>
              <a:gd name="adj" fmla="val 9231"/>
            </a:avLst>
          </a:prstGeom>
          <a:solidFill>
            <a:srgbClr val="EAF3FF"/>
          </a:solidFill>
          <a:ln w="12700">
            <a:solidFill>
              <a:srgbClr val="BFD7F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Project ideas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4364B"/>
                </a:solidFill>
              </a:rPr>
              <a:t>What to build, scope, proof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4892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71D3E"/>
                </a:solidFill>
              </a:rPr>
              <a:t>Keep answers diagnostic: what is known, what depends on the company, and how to verify.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C93"/>
                </a:solidFill>
              </a:rPr>
              <a:t>Rohit Jindal | FDE Masterclass | Scaler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Company>Scaler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FDE Masterclass</dc:title>
  <dc:subject>Forward Deployed Engineering Masterclass</dc:subject>
  <dc:creator>Rohit Jindal</dc:creator>
  <cp:lastModifiedBy>Rohit Jindal</cp:lastModifiedBy>
  <cp:revision>1</cp:revision>
  <dcterms:created xsi:type="dcterms:W3CDTF">2026-07-25T10:14:23Z</dcterms:created>
  <dcterms:modified xsi:type="dcterms:W3CDTF">2026-07-25T10:14:23Z</dcterms:modified>
</cp:coreProperties>
</file>